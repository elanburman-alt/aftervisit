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elevator pitch: "AfterVisit is a post-meeting assistant for major-gift fundraisers. Bullets in, Salesforce note plus thank-you email out, human approval before anything writes." One sentence on the problem, one on the approach. Move to slide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operational pain: 30 minutes per meeting times 10 meetings per week is hours of repetitive work where quality and compliance both suffer. Then introduce the approach in one line: rather than one LLM call doing everything, a decomposed pipeline with the right model for each stage. Move to the demo, then we'll dig into how it works inside.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centerpiece. Walk left to right. Bullets, redact, note (Haiku because it's good at schema-extraction), email (Opus because voice matters), human gate. Mention the email-voice skill is fully portable: a folder of YAML-fronted markdown files. No vector store; at this corpus size, metadata routing is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look at the system in action. Bullets and metadata go in on the left. The note appears as JSON on the left of the output panel, the thank-you email on the right, with the references the skill loaded shown below the email. Human approves with a checkbox, the entry files to mock Salesforce, and the activity log shows the new row. About fifteen seconds on this slide; the architecture and findings are where the substance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conditions, fifteen test cases. Baseline A is a single LLM call, no schema, no skill, no redaction. Baseline B is the full pipeline with three fixed exemplars. AfterVisit is the full pipeline with skill routing. LLM judge, validated against hand scores on five cases. Read the table top to bottom.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findings, then limitations, then thank you. (1) Decomposition wins on tool-call reliability, not rubric points: judge missed that 7 of 15 of Baseline A's notes failed real schema. (2) Voice anchoring is the clear win: 1.0 to 2.0 on voice match. (3) Metadata routing ties fixed exemplars at n=15. The pre-registered threshold called this honestly. Limitations: oblique-acknowledgment ceiling on sensitive cases; corpus needs a sensitivity dimension; n=15 is small. Close: "Thank you, happy to take questions."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1153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1F3A5F"/>
                </a:solidFill>
                <a:latin typeface="Calibri"/>
              </a:rPr>
              <a:t>AfterVisit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79476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475569"/>
                </a:solidFill>
                <a:latin typeface="Calibri"/>
              </a:rPr>
              <a:t>Post-meeting note and email assistant for major-gift fundraisers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Elan Burman   ·   BU.330.760 Generative AI for Business   · 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Problem and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Problem. </a:t>
            </a:r>
            <a:r>
              <a:rPr sz="1800" b="0" i="0">
                <a:solidFill>
                  <a:srgbClr val="475569"/>
                </a:solidFill>
                <a:latin typeface="Calibri"/>
              </a:rPr>
              <a:t>After every donor meeting, a major-gift officer must produce a Salesforce activity note and a thank-you email. Each takes 15 to 30 minutes. At 5 to 10 meetings per week, this is hours of repetitive work where quality drops as fatigue rises and compliance risks rise with it.</a:t>
            </a:r>
          </a:p>
          <a:p>
            <a:pPr algn="l">
              <a:spcBef>
                <a:spcPts val="1800"/>
              </a:spcBef>
            </a:pPr>
            <a:r>
              <a:rPr sz="1800" b="1" i="0">
                <a:solidFill>
                  <a:srgbClr val="1F3A5F"/>
                </a:solidFill>
                <a:latin typeface="Calibri"/>
              </a:rPr>
              <a:t>Approach. </a:t>
            </a:r>
            <a:r>
              <a:rPr sz="1800" b="0" i="0">
                <a:solidFill>
                  <a:srgbClr val="475569"/>
                </a:solidFill>
                <a:latin typeface="Calibri"/>
              </a:rPr>
              <a:t>A decomposed pipeline that converts a few meeting bullets into a schema-valid Salesforce note for the file, and a voice-anchored thank-you email for the donor. Redaction at the input. Human approval gate at the output.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0088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Bullets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529687" y="2606040"/>
            <a:ext cx="411480" cy="27432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4116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Redact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769967" y="2606040"/>
            <a:ext cx="411480" cy="27432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18144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Note</a:t>
            </a:r>
          </a:p>
          <a:p>
            <a:pPr algn="ctr"/>
            <a:r>
              <a:rPr sz="1100">
                <a:solidFill>
                  <a:srgbClr val="475569"/>
                </a:solidFill>
                <a:latin typeface="Calibri"/>
              </a:rPr>
              <a:t>Haiku + schema retry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010247" y="2606040"/>
            <a:ext cx="411480" cy="27432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2172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Email</a:t>
            </a:r>
          </a:p>
          <a:p>
            <a:pPr algn="ctr"/>
            <a:r>
              <a:rPr sz="1100">
                <a:solidFill>
                  <a:srgbClr val="475569"/>
                </a:solidFill>
                <a:latin typeface="Calibri"/>
              </a:rPr>
              <a:t>Opus + skill exemplars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250527" y="2606040"/>
            <a:ext cx="411480" cy="27432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6200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Human gate</a:t>
            </a:r>
          </a:p>
          <a:p>
            <a:pPr algn="ctr"/>
            <a:r>
              <a:rPr sz="1100">
                <a:solidFill>
                  <a:srgbClr val="475569"/>
                </a:solidFill>
                <a:latin typeface="Calibri"/>
              </a:rPr>
              <a:t>+ Salesforce write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42232"/>
            <a:ext cx="146304" cy="146304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23360"/>
            <a:ext cx="105914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Note uses Haiku (structured extraction); email uses Opus (voice quality).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36592"/>
            <a:ext cx="146304" cy="146304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17720"/>
            <a:ext cx="105914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Voice anchored via portable email-voice skill, with metadata-routed exemplars.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330952"/>
            <a:ext cx="146304" cy="146304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212080"/>
            <a:ext cx="105914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Redaction at input, human approval at output, schema enforcement throughout.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The system in action</a:t>
            </a:r>
          </a:p>
        </p:txBody>
      </p:sp>
      <p:pic>
        <p:nvPicPr>
          <p:cNvPr id="3" name="Picture 2" descr="01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554480"/>
            <a:ext cx="3657600" cy="1898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35127" y="36576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Form: bullets, donor segment, meeting type</a:t>
            </a:r>
          </a:p>
        </p:txBody>
      </p:sp>
      <p:pic>
        <p:nvPicPr>
          <p:cNvPr id="5" name="Picture 4" descr="02_outpu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47" y="1554480"/>
            <a:ext cx="3657600" cy="13172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267047" y="36576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Outputs: schema-valid note + voice-anchored email + refs used</a:t>
            </a:r>
          </a:p>
        </p:txBody>
      </p:sp>
      <p:pic>
        <p:nvPicPr>
          <p:cNvPr id="7" name="Picture 6" descr="03_fi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8967" y="1554480"/>
            <a:ext cx="3657600" cy="17195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8967" y="36576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Filed: approved entry in the mock Salesforce 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11535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Design. </a:t>
            </a:r>
            <a:r>
              <a:rPr sz="1500" b="0" i="0">
                <a:solidFill>
                  <a:srgbClr val="475569"/>
                </a:solidFill>
                <a:latin typeface="Calibri"/>
              </a:rPr>
              <a:t>15 synthetic test cases across three conditions, 45 runs in total. baseline_a is a single model call producing both note and email, no schema enforcement, no skill, no redaction. baseline_b is the full pipeline with three fixed exemplars. aftervisit is the full pipeline with skill-routed exemplars.</a:t>
            </a:r>
          </a:p>
          <a:p>
            <a:pPr algn="l">
              <a:spcBef>
                <a:spcPts val="1000"/>
              </a:spcBef>
            </a:pPr>
            <a:r>
              <a:rPr sz="1500" b="1" i="0">
                <a:solidFill>
                  <a:srgbClr val="1F3A5F"/>
                </a:solidFill>
                <a:latin typeface="Calibri"/>
              </a:rPr>
              <a:t>Scoring. </a:t>
            </a:r>
            <a:r>
              <a:rPr sz="1500" b="0" i="0">
                <a:solidFill>
                  <a:srgbClr val="475569"/>
                </a:solidFill>
                <a:latin typeface="Calibri"/>
              </a:rPr>
              <a:t>An LLM-as-judge scored each run across 10 rubric dimensions. The judge was validated against five hand-scored cases; 9 of 10 dimensions agreed with the hand scores within 1 point on at least 4 of 5 cases.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95247.5" y="3931920"/>
          <a:ext cx="96012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109728" marR="109728" marT="45720" marB="45720" anchor="ctr">
                    <a:solidFill>
                      <a:srgbClr val="0EA5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109728" marR="109728" marT="45720" marB="45720" anchor="ctr">
                    <a:solidFill>
                      <a:srgbClr val="0EA5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Email</a:t>
                      </a:r>
                    </a:p>
                  </a:txBody>
                  <a:tcPr marL="109728" marR="109728" marT="45720" marB="45720" anchor="ctr">
                    <a:solidFill>
                      <a:srgbClr val="0EA5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Tool-call</a:t>
                      </a:r>
                    </a:p>
                  </a:txBody>
                  <a:tcPr marL="109728" marR="109728" marT="45720" marB="45720" anchor="ctr">
                    <a:solidFill>
                      <a:srgbClr val="0EA5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Voice match</a:t>
                      </a:r>
                    </a:p>
                  </a:txBody>
                  <a:tcPr marL="109728" marR="109728" marT="45720" marB="45720" anchor="ctr">
                    <a:solidFill>
                      <a:srgbClr val="0EA5A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3A5F"/>
                          </a:solidFill>
                          <a:latin typeface="Calibri"/>
                        </a:rPr>
                        <a:t>baseline_a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9.9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8.4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8/15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3A5F"/>
                          </a:solidFill>
                          <a:latin typeface="Calibri"/>
                        </a:rPr>
                        <a:t>baseline_b</a:t>
                      </a:r>
                    </a:p>
                  </a:txBody>
                  <a:tcPr marL="109728" marR="109728" marT="45720" marB="45720" anchor="ctr">
                    <a:solidFill>
                      <a:srgbClr val="E5E7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9.1</a:t>
                      </a:r>
                    </a:p>
                  </a:txBody>
                  <a:tcPr marL="109728" marR="109728" marT="45720" marB="45720" anchor="ctr">
                    <a:solidFill>
                      <a:srgbClr val="E5E7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9.5</a:t>
                      </a:r>
                    </a:p>
                  </a:txBody>
                  <a:tcPr marL="109728" marR="109728" marT="45720" marB="45720" anchor="ctr">
                    <a:solidFill>
                      <a:srgbClr val="E5E7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15/15</a:t>
                      </a:r>
                    </a:p>
                  </a:txBody>
                  <a:tcPr marL="109728" marR="109728" marT="45720" marB="45720" anchor="ctr">
                    <a:solidFill>
                      <a:srgbClr val="E5E7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109728" marR="109728" marT="45720" marB="45720" anchor="ctr">
                    <a:solidFill>
                      <a:srgbClr val="E5E7E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3A5F"/>
                          </a:solidFill>
                          <a:latin typeface="Calibri"/>
                        </a:rPr>
                        <a:t>aftervisit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9.1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9.2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15/15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Findings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11535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Decomposition earns its place on operational reliability, not rubric points. </a:t>
            </a:r>
            <a:r>
              <a:rPr sz="1600" b="0" i="0">
                <a:solidFill>
                  <a:srgbClr val="475569"/>
                </a:solidFill>
                <a:latin typeface="Calibri"/>
              </a:rPr>
              <a:t>baseline_a's higher note score (9.9 vs 9.1) masks the fact that 7 of 15 of its notes failed real schema validation; the judge missed these. Tool-call success: 8/15 vs 15/15.</a:t>
            </a:r>
          </a:p>
          <a:p>
            <a:pPr algn="l">
              <a:spcBef>
                <a:spcPts val="1400"/>
              </a:spcBef>
            </a:pPr>
            <a:r>
              <a:rPr sz="1600" b="1" i="0">
                <a:solidFill>
                  <a:srgbClr val="1F3A5F"/>
                </a:solidFill>
                <a:latin typeface="Calibri"/>
              </a:rPr>
              <a:t>Voice anchoring earns its place. </a:t>
            </a:r>
            <a:r>
              <a:rPr sz="1600" b="0" i="0">
                <a:solidFill>
                  <a:srgbClr val="475569"/>
                </a:solidFill>
                <a:latin typeface="Calibri"/>
              </a:rPr>
              <a:t>voice_match jumps from 1.00 to 2.00 once the model sees actual MGO-voice exemplars.</a:t>
            </a:r>
          </a:p>
          <a:p>
            <a:pPr algn="l">
              <a:spcBef>
                <a:spcPts val="1400"/>
              </a:spcBef>
            </a:pPr>
            <a:r>
              <a:rPr sz="1600" b="1" i="0">
                <a:solidFill>
                  <a:srgbClr val="1F3A5F"/>
                </a:solidFill>
                <a:latin typeface="Calibri"/>
              </a:rPr>
              <a:t>Metadata routing ties fixed exemplars at this corpus size. </a:t>
            </a:r>
            <a:r>
              <a:rPr sz="1600" b="0" i="0">
                <a:solidFill>
                  <a:srgbClr val="475569"/>
                </a:solidFill>
                <a:latin typeface="Calibri"/>
              </a:rPr>
              <a:t>baseline_b and aftervisit both score 2.00 on voice_match. Per the pre-registered threshold, routing's marginal value over static exemplars is not demonstrated at n=15 references. Routing's other claims (corpus scaling, portability) were not measured by this eval.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80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Known limitations: information-flow ceiling on oblique acknowledgments; corpus organization needs a sensitivity-aware dimension (tc_13 finding); n=15 cases is small.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5989320"/>
            <a:ext cx="1091153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