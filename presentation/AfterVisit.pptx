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elevator pitch: "AfterVisit is a post-meeting assistant for major-gift fundraisers. Bullets in, Salesforce note plus thank-you email out, human approval before anything writes." One sentence on the problem, one on the approach. Move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operational pain: 30 minutes per meeting times 10 meetings per week is hours of repetitive work where quality and compliance both suffer. Then introduce the approach in one line: rather than one LLM call doing everything, a decomposed pipeline with the right model for each stage. Move to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centerpiece. Walk left to right. Bullets, redact, note (Haiku because it's good at schema-extraction), email (Opus because voice matters), human gate. Mention the email-voice skill is fully portable: a folder of YAML-fronted markdown files. No vector store; at this corpus size, metadata routing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conditions, fifteen test cases. Baseline A is a single LLM call, no schema, no skill, no redaction. Baseline B is the full pipeline with three fixed exemplars. AfterVisit is the full pipeline with skill routing. LLM judge, validated against hand scores on five cases. Read the table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findings, then limitations, then thank you. (1) Decomposition wins on tool-call reliability, not rubric points: judge missed that 7 of 15 of Baseline A's notes failed real schema. (2) Voice anchoring is the clear win: 1.0 to 2.0 on voice match. (3) Metadata routing ties fixed exemplars at n=15. The pre-registered threshold called this honestly. Limitations: oblique-acknowledgment ceiling on sensitive cases; corpus needs a sensitivity dimension; n=15 is small. Close: "Thank you, happy to take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F3A5F"/>
                </a:solidFill>
                <a:latin typeface="Calibri"/>
              </a:rPr>
              <a:t>AfterVisit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947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  <a:latin typeface="Calibri"/>
              </a:rPr>
              <a:t>Post-meeting note and email assistant for major-gift fundraisers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Elan Burman   ·   BU.330.760 Generative AI for Business   · 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Problem and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Problem. </a:t>
            </a:r>
            <a:r>
              <a:rPr sz="1800" b="0" i="0">
                <a:solidFill>
                  <a:srgbClr val="475569"/>
                </a:solidFill>
                <a:latin typeface="Calibri"/>
              </a:rPr>
              <a:t>After every donor meeting, a major-gift officer must produce a Salesforce activity note and a thank-you email. Each takes 15 to 30 minutes. At 5 to 10 meetings per week, this is hours of repetitive work where quality drops as fatigue rises and compliance risks rise with it.</a:t>
            </a:r>
          </a:p>
          <a:p>
            <a:pPr algn="l">
              <a:spcBef>
                <a:spcPts val="1800"/>
              </a:spcBef>
            </a:pPr>
            <a:r>
              <a:rPr sz="1800" b="1" i="0">
                <a:solidFill>
                  <a:srgbClr val="1F3A5F"/>
                </a:solidFill>
                <a:latin typeface="Calibri"/>
              </a:rPr>
              <a:t>Approach. </a:t>
            </a:r>
            <a:r>
              <a:rPr sz="1800" b="0" i="0">
                <a:solidFill>
                  <a:srgbClr val="475569"/>
                </a:solidFill>
                <a:latin typeface="Calibri"/>
              </a:rPr>
              <a:t>A decomposed pipeline that converts a few meeting bullets into a schema-valid Salesforce note for the file, and a voice-anchored thank-you email for the donor. Redaction at the input. Human approval gate at the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887" y="210312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Bullets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29687" y="2606040"/>
            <a:ext cx="411480" cy="274320"/>
          </a:xfrm>
          <a:prstGeom prst="rightArrow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41167" y="210312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Redact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69967" y="2606040"/>
            <a:ext cx="411480" cy="274320"/>
          </a:xfrm>
          <a:prstGeom prst="rightArrow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81447" y="210312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Note</a:t>
            </a:r>
          </a:p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Haiku + schema retry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10247" y="2606040"/>
            <a:ext cx="411480" cy="274320"/>
          </a:xfrm>
          <a:prstGeom prst="rightArrow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1727" y="210312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Email</a:t>
            </a:r>
          </a:p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Opus + skill exemplars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50527" y="2606040"/>
            <a:ext cx="411480" cy="274320"/>
          </a:xfrm>
          <a:prstGeom prst="rightArrow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62007" y="210312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Human gate</a:t>
            </a:r>
          </a:p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+ Salesforce 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42232"/>
            <a:ext cx="146304" cy="14630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105914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Note uses Haiku (structured extraction); email uses Opus (voice quality).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36592"/>
            <a:ext cx="146304" cy="14630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105914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Voice anchored via portable email-voice skill, with metadata-routed exemplars.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30952"/>
            <a:ext cx="146304" cy="14630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105914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Redaction at input, human approval at output, schema enforcement throughout.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Design.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15 synthetic test cases across three conditions, 45 runs in total. baseline_a is a single model call producing both note and email, no schema enforcement, no skill, no redaction. baseline_b is the full pipeline with three fixed exemplars. aftervisit is the full pipeline with skill-routed exemplars.</a:t>
            </a:r>
          </a:p>
          <a:p>
            <a:pPr algn="l">
              <a:spcBef>
                <a:spcPts val="1000"/>
              </a:spcBef>
            </a:pPr>
            <a:r>
              <a:rPr sz="1500" b="1" i="0">
                <a:solidFill>
                  <a:srgbClr val="1F3A5F"/>
                </a:solidFill>
                <a:latin typeface="Calibri"/>
              </a:rPr>
              <a:t>Scoring.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An LLM-as-judge scored each run across 10 rubric dimensions. The judge was validated against five hand-scored cases; 9 of 10 dimensions agreed with the hand scores within 1 point on at least 4 of 5 cases.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247.5" y="3931920"/>
          <a:ext cx="96012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109728" marR="109728" marT="45720" marB="45720" anchor="ctr">
                    <a:solidFill>
                      <a:srgbClr val="0EA5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109728" marR="109728" marT="45720" marB="45720" anchor="ctr">
                    <a:solidFill>
                      <a:srgbClr val="0EA5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109728" marR="109728" marT="45720" marB="45720" anchor="ctr">
                    <a:solidFill>
                      <a:srgbClr val="0EA5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Tool-call</a:t>
                      </a:r>
                    </a:p>
                  </a:txBody>
                  <a:tcPr marL="109728" marR="109728" marT="45720" marB="45720" anchor="ctr">
                    <a:solidFill>
                      <a:srgbClr val="0EA5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Voice match</a:t>
                      </a:r>
                    </a:p>
                  </a:txBody>
                  <a:tcPr marL="109728" marR="109728" marT="45720" marB="45720" anchor="ctr">
                    <a:solidFill>
                      <a:srgbClr val="0EA5A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3A5F"/>
                          </a:solidFill>
                          <a:latin typeface="Calibri"/>
                        </a:rPr>
                        <a:t>baseline_a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8/15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3A5F"/>
                          </a:solidFill>
                          <a:latin typeface="Calibri"/>
                        </a:rPr>
                        <a:t>baseline_b</a:t>
                      </a:r>
                    </a:p>
                  </a:txBody>
                  <a:tcPr marL="109728" marR="109728" marT="45720" marB="45720" anchor="ctr">
                    <a:solidFill>
                      <a:srgbClr val="E5E7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109728" marR="109728" marT="45720" marB="45720" anchor="ctr">
                    <a:solidFill>
                      <a:srgbClr val="E5E7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109728" marR="109728" marT="45720" marB="45720" anchor="ctr">
                    <a:solidFill>
                      <a:srgbClr val="E5E7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15/15</a:t>
                      </a:r>
                    </a:p>
                  </a:txBody>
                  <a:tcPr marL="109728" marR="109728" marT="45720" marB="45720" anchor="ctr">
                    <a:solidFill>
                      <a:srgbClr val="E5E7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109728" marR="109728" marT="45720" marB="45720" anchor="ctr">
                    <a:solidFill>
                      <a:srgbClr val="E5E7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3A5F"/>
                          </a:solidFill>
                          <a:latin typeface="Calibri"/>
                        </a:rPr>
                        <a:t>aftervisit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15/15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475569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Findings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Decomposition earns its place on operational reliability, not rubric points.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baseline_a's higher note score (9.9 vs 9.1) masks the fact that 7 of 15 of its notes failed real schema validation; the judge missed these. Tool-call success: 8/15 vs 15/15.</a:t>
            </a:r>
          </a:p>
          <a:p>
            <a:pPr algn="l">
              <a:spcBef>
                <a:spcPts val="1400"/>
              </a:spcBef>
            </a:pPr>
            <a:r>
              <a:rPr sz="1600" b="1" i="0">
                <a:solidFill>
                  <a:srgbClr val="1F3A5F"/>
                </a:solidFill>
                <a:latin typeface="Calibri"/>
              </a:rPr>
              <a:t>Voice anchoring earns its place.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voice_match jumps from 1.00 to 2.00 once the model sees actual MGO-voice exemplars.</a:t>
            </a:r>
          </a:p>
          <a:p>
            <a:pPr algn="l">
              <a:spcBef>
                <a:spcPts val="1400"/>
              </a:spcBef>
            </a:pPr>
            <a:r>
              <a:rPr sz="1600" b="1" i="0">
                <a:solidFill>
                  <a:srgbClr val="1F3A5F"/>
                </a:solidFill>
                <a:latin typeface="Calibri"/>
              </a:rPr>
              <a:t>Metadata routing ties fixed exemplars at this corpus size.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baseline_b and aftervisit both score 2.00 on voice_match. Per the pre-registered threshold, routing's marginal value over static exemplars is not demonstrated at n=15 references. Routing's other claims (corpus scaling, portability) were not measured by this 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Known limitations: information-flow ceiling on oblique acknowledgments; corpus organization needs a sensitivity-aware dimension (tc_13 finding); n=15 cases is small.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989320"/>
            <a:ext cx="1091153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