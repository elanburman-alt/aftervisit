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1F3A5F"/>
                </a:solidFill>
                <a:latin typeface="Calibri"/>
              </a:rPr>
              <a:t>AfterVisit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947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75569"/>
                </a:solidFill>
                <a:latin typeface="Calibri"/>
              </a:rPr>
              <a:t>Post-meeting note and email assistant for major-gift fundraisers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Elan Burman   ·   BU.330.760 Generative AI for Business   · 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1153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After every donor meeting, a major-gift officer must produce a Salesforce activity note and a thank-you email. Each takes 15 to 30 minutes. At 5 to 10 meetings per week, this is hours of repetitive work where quality drops as fatigue rises and compliance risks rise with it.</a:t>
            </a:r>
          </a:p>
          <a:p>
            <a:pPr algn="l">
              <a:spcBef>
                <a:spcPts val="1800"/>
              </a:spcBef>
            </a:pPr>
            <a:r>
              <a:rPr sz="1800" b="1" i="0">
                <a:solidFill>
                  <a:srgbClr val="1F3A5F"/>
                </a:solidFill>
                <a:latin typeface="Calibri"/>
              </a:rPr>
              <a:t>Approach. 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A decomposed pipeline that converts a few meeting bullets into a schema-valid Salesforce note for the file, and a voice-anchored thank-you email for the donor. Redaction at the input. Human approval gate at the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0088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Bullets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2968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4116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Redact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6996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8144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Note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Haiku + schema retry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24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2172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Email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Opus + skill exemplars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250527" y="2606040"/>
            <a:ext cx="411480" cy="274320"/>
          </a:xfrm>
          <a:prstGeom prst="rightArrow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62007" y="2103120"/>
            <a:ext cx="1828800" cy="12801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1600" b="1">
                <a:solidFill>
                  <a:srgbClr val="1F3A5F"/>
                </a:solidFill>
                <a:latin typeface="Calibri"/>
              </a:rPr>
              <a:t>Human gate</a:t>
            </a:r>
          </a:p>
          <a:p>
            <a:pPr algn="ctr"/>
            <a:r>
              <a:rPr sz="1100">
                <a:solidFill>
                  <a:srgbClr val="475569"/>
                </a:solidFill>
                <a:latin typeface="Calibri"/>
              </a:rPr>
              <a:t>+ Salesforce write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4223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2336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Note uses Haiku (structured extraction); email uses Opus (voice quality).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3659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Voice anchored via portable email-voice skill, with metadata-routed exemplars.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330952"/>
            <a:ext cx="146304" cy="146304"/>
          </a:xfrm>
          <a:prstGeom prst="rect">
            <a:avLst/>
          </a:prstGeom>
          <a:solidFill>
            <a:srgbClr val="0EA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212080"/>
            <a:ext cx="105914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Redaction at input, human approval at output, schema enforcement throughout.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Design.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15 synthetic test cases across three conditions, 45 runs in total. baseline_a is a single model call producing both note and email, no schema enforcement, no skill, no redaction. baseline_b is the full pipeline with three fixed exemplars. aftervisit is the full pipeline with skill-routed exemplars.</a:t>
            </a:r>
          </a:p>
          <a:p>
            <a:pPr algn="l">
              <a:spcBef>
                <a:spcPts val="1000"/>
              </a:spcBef>
            </a:pPr>
            <a:r>
              <a:rPr sz="1500" b="1" i="0">
                <a:solidFill>
                  <a:srgbClr val="1F3A5F"/>
                </a:solidFill>
                <a:latin typeface="Calibri"/>
              </a:rPr>
              <a:t>Scoring. </a:t>
            </a:r>
            <a:r>
              <a:rPr sz="1500" b="0" i="0">
                <a:solidFill>
                  <a:srgbClr val="475569"/>
                </a:solidFill>
                <a:latin typeface="Calibri"/>
              </a:rPr>
              <a:t>An LLM-as-judge scored each run across 10 rubric dimensions. The judge was validated against five hand-scored cases; 9 of 10 dimensions agreed with the hand scores within 1 point on at least 4 of 5 cases.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95247.5" y="3931920"/>
          <a:ext cx="96012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Tool-call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Voice match</a:t>
                      </a:r>
                    </a:p>
                  </a:txBody>
                  <a:tcPr marL="109728" marR="109728" marT="45720" marB="45720" anchor="ctr">
                    <a:solidFill>
                      <a:srgbClr val="0EA5A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baseline_a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9.9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8/15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baseline_b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E5E7E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F3A5F"/>
                          </a:solidFill>
                          <a:latin typeface="Calibri"/>
                        </a:rPr>
                        <a:t>aftervisit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15/15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475569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1F3A5F"/>
                </a:solidFill>
                <a:latin typeface="Calibri"/>
              </a:rPr>
              <a:t>Findings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Decomposition earns its place on operational reliability, not rubric points.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baseline_a's higher note score (9.9 vs 9.1) masks the fact that 7 of 15 of its notes failed real schema validation; the judge missed these. Tool-call success: 8/15 vs 15/15.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Voice anchoring earns its place.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voice_match jumps from 1.00 to 2.00 once the model sees actual MGO-voice exemplars.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1F3A5F"/>
                </a:solidFill>
                <a:latin typeface="Calibri"/>
              </a:rPr>
              <a:t>Metadata routing ties fixed exemplars at this corpus size. </a:t>
            </a:r>
            <a:r>
              <a:rPr sz="1600" b="0" i="0">
                <a:solidFill>
                  <a:srgbClr val="475569"/>
                </a:solidFill>
                <a:latin typeface="Calibri"/>
              </a:rPr>
              <a:t>baseline_b and aftervisit both score 2.00 on voice_match. Per the pre-registered threshold, routing's marginal value over static exemplars is not demonstrated at n=15 references. Routing's other claims (corpus scaling, portability) were not measured by this eval.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Known limitations: information-flow ceiling on oblique acknowledgments; corpus organization needs a sensitivity-aware dimension (tc_13 finding); n=15 cases is small.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5989320"/>
            <a:ext cx="1091153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Calibr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