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2" r:id="rId6"/>
    <p:sldId id="263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84" y="2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324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0841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AfterVisit</a:t>
            </a:r>
            <a:r>
              <a:rPr dirty="0"/>
              <a:t> is a post-meeting assistant for major-gift fundraisers. Bullets in, Salesforce note plus thank-you email out, human approval before anything writes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30 minutes per meeting times 10 meetings per week is hours of repetitive work where quality and compliance both suffer. </a:t>
            </a:r>
            <a:r>
              <a:rPr lang="en-US" dirty="0"/>
              <a:t>Rather </a:t>
            </a:r>
            <a:r>
              <a:rPr dirty="0"/>
              <a:t>than one LLM call doing everything, a decomposed pipeline with the right model for each stage.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Bullets, redact, note (Haiku because it's good at schema-extraction), email (Opus because voice matters), human gate. </a:t>
            </a:r>
            <a:r>
              <a:rPr lang="en-US" dirty="0"/>
              <a:t>T</a:t>
            </a:r>
            <a:r>
              <a:rPr dirty="0"/>
              <a:t>he email-voice skill is fully portable: a folder of YAML-fronted markdown files. No vector store; at this corpus size, metadata routing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Quick look at the system in action. Bullets and metadata go in on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BE2B3-47B5-6820-A269-71E7B61EE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3B33B9-706A-124E-1607-FE8F36AB47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99A385-0056-FDED-0F53-76E759B426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note appears as JSON on the left of the output panel, the thank-you email on the right, with the references the skill loaded shown below the email. </a:t>
            </a:r>
            <a:r>
              <a:rPr lang="en-US" dirty="0"/>
              <a:t>It also flags sensitivity issues, and denotes whether the email passed cleanly or took a repeat pass.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2FCFB-FA18-B9B4-04E2-730F17B9A4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902478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50644-E24D-A019-C7CC-B3D9EA299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4647D1-282B-85A7-2D24-E5F402BC8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793C56-0FFB-8983-D1BF-BE7AF79B51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Human approves with a checkbox, the entry files to mock Salesforce, and the activity log shows the new row.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F10AD-843B-7748-085F-E8FC0E36AC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60788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Three conditions, fifteen test cases. Baseline A is a single LLM call, no schema, no skill, no redaction. Baseline B is the full pipeline with three fixed exemplars. </a:t>
            </a:r>
            <a:r>
              <a:rPr dirty="0" err="1"/>
              <a:t>AfterVisit</a:t>
            </a:r>
            <a:r>
              <a:rPr dirty="0"/>
              <a:t> is the full pipeline with skill routing. LLM judge, validated against hand scores on five cases. Read the table top to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(1) Decomposition wins on tool-call reliability, not rubric points: judge missed that 7 of 15 of Baseline A's notes failed real schema. (2) Voice anchoring is the clear win: 1.0 to 2.0 on voice match. (3) Metadata routing ties fixed exemplars at n=15. The pre-registered threshold called this honestly. Limitations: oblique-acknowledgment ceiling on sensitive cases; corpus needs a sensitivity dimension; n=15 is small. </a:t>
            </a:r>
            <a:r>
              <a:t>Thank you</a:t>
            </a:r>
            <a:r>
              <a:rPr lang="en-US"/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2601" y="3790406"/>
            <a:ext cx="7306491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dirty="0">
                <a:solidFill>
                  <a:srgbClr val="475569"/>
                </a:solidFill>
                <a:latin typeface="Calibri"/>
              </a:rPr>
              <a:t>Post-meeting note and email assistant for major-gift fundraisers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0"/>
            <a:ext cx="1091153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Elan Burman   ·   BU.330.760 Generative AI for Business   ·   Spring 2026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847" y="2377440"/>
            <a:ext cx="4572000" cy="11926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Problem and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Problem. 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After every donor meeting, a major-gift officer must produce a Salesforce activity note and a thank-you email. Each takes 15 to 30 minutes. At 5 to 10 meetings per week, this is hours of repetitive work where quality drops as fatigue rises and compliance risks rise with it.</a:t>
            </a:r>
          </a:p>
          <a:p>
            <a:pPr algn="l">
              <a:spcBef>
                <a:spcPts val="1800"/>
              </a:spcBef>
            </a:pPr>
            <a:r>
              <a:rPr sz="1800" b="1" i="0">
                <a:solidFill>
                  <a:srgbClr val="1F3A5F"/>
                </a:solidFill>
                <a:latin typeface="Calibri"/>
              </a:rPr>
              <a:t>Approach. 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A decomposed pipeline that converts a few meeting bullets into a schema-valid Salesforce note for the file, and a voice-anchored thank-you email for the donor. Redaction at the input. Human approval gate at the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2 / 6</a:t>
            </a:r>
          </a:p>
        </p:txBody>
      </p:sp>
      <p:pic>
        <p:nvPicPr>
          <p:cNvPr id="5" name="Picture 4" descr="logo.png">
            <a:extLst>
              <a:ext uri="{FF2B5EF4-FFF2-40B4-BE49-F238E27FC236}">
                <a16:creationId xmlns:a16="http://schemas.microsoft.com/office/drawing/2014/main" id="{27D44C28-8072-AABE-179E-4864F815D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126480"/>
            <a:ext cx="1927859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0088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Bullets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2968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94116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Redact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6996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18144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Note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Haiku + schema retry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1024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2172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Email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Opus + skill exemplars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25052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66200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Human gate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+ Salesforce write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4223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4119590"/>
            <a:ext cx="1059149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475569"/>
                </a:solidFill>
                <a:latin typeface="Calibri"/>
              </a:rPr>
              <a:t>Note uses Haiku (structured extraction); email uses Opus (voice quality).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3659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713950"/>
            <a:ext cx="1059149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475569"/>
                </a:solidFill>
                <a:latin typeface="Calibri"/>
              </a:rPr>
              <a:t>Voice anchored via portable email-voice skill, with metadata-routed exemplars.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33095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5298730"/>
            <a:ext cx="1059149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Redaction at input, human approval at output, schema enforcement throughout.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3 / 6</a:t>
            </a:r>
          </a:p>
        </p:txBody>
      </p:sp>
      <p:pic>
        <p:nvPicPr>
          <p:cNvPr id="19" name="Picture 18" descr="logo.png">
            <a:extLst>
              <a:ext uri="{FF2B5EF4-FFF2-40B4-BE49-F238E27FC236}">
                <a16:creationId xmlns:a16="http://schemas.microsoft.com/office/drawing/2014/main" id="{2A4B8918-46C6-182D-51DB-CFDA001120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126480"/>
            <a:ext cx="1927859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The system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15641" y="60350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dirty="0">
                <a:solidFill>
                  <a:srgbClr val="475569"/>
                </a:solidFill>
                <a:latin typeface="Calibri"/>
              </a:rPr>
              <a:t>Form: bullets, donor segment, meeting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4 / 6</a:t>
            </a:r>
          </a:p>
        </p:txBody>
      </p:sp>
      <p:pic>
        <p:nvPicPr>
          <p:cNvPr id="10" name="Picture 9" descr="01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939" y="914584"/>
            <a:ext cx="9385815" cy="4983296"/>
          </a:xfrm>
          <a:prstGeom prst="rect">
            <a:avLst/>
          </a:prstGeom>
        </p:spPr>
      </p:pic>
      <p:pic>
        <p:nvPicPr>
          <p:cNvPr id="3" name="Picture 2" descr="logo.png">
            <a:extLst>
              <a:ext uri="{FF2B5EF4-FFF2-40B4-BE49-F238E27FC236}">
                <a16:creationId xmlns:a16="http://schemas.microsoft.com/office/drawing/2014/main" id="{33CD55DE-570E-F113-1948-175F13D42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126480"/>
            <a:ext cx="1927859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14A4-9209-BF5B-F447-CFEA9A050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24752D-B23E-34F3-82D6-427746FDB722}"/>
              </a:ext>
            </a:extLst>
          </p:cNvPr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The system in action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14374A-D972-9196-993A-FE74A3F9555A}"/>
              </a:ext>
            </a:extLst>
          </p:cNvPr>
          <p:cNvSpPr txBox="1"/>
          <p:nvPr/>
        </p:nvSpPr>
        <p:spPr>
          <a:xfrm>
            <a:off x="6515024" y="571500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dirty="0">
                <a:solidFill>
                  <a:srgbClr val="475569"/>
                </a:solidFill>
                <a:latin typeface="Calibri"/>
              </a:rPr>
              <a:t>Outputs: schema-valid note + voice-anchored email + refs used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1AFB38-E438-FC75-3068-2BCF978D5307}"/>
              </a:ext>
            </a:extLst>
          </p:cNvPr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4 / 6</a:t>
            </a:r>
          </a:p>
        </p:txBody>
      </p:sp>
      <p:pic>
        <p:nvPicPr>
          <p:cNvPr id="11" name="Picture 10" descr="02_outputs.png">
            <a:extLst>
              <a:ext uri="{FF2B5EF4-FFF2-40B4-BE49-F238E27FC236}">
                <a16:creationId xmlns:a16="http://schemas.microsoft.com/office/drawing/2014/main" id="{18A41678-9641-35A8-0EEC-82185D842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070" y="1125504"/>
            <a:ext cx="8153554" cy="4515552"/>
          </a:xfrm>
          <a:prstGeom prst="rect">
            <a:avLst/>
          </a:prstGeom>
        </p:spPr>
      </p:pic>
      <p:pic>
        <p:nvPicPr>
          <p:cNvPr id="3" name="Picture 2" descr="logo.png">
            <a:extLst>
              <a:ext uri="{FF2B5EF4-FFF2-40B4-BE49-F238E27FC236}">
                <a16:creationId xmlns:a16="http://schemas.microsoft.com/office/drawing/2014/main" id="{67917F3B-8009-79E0-58D1-3FBBEF5AB3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126480"/>
            <a:ext cx="1927859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136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EA718-5554-0A1A-2357-8278069D8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7D7A9D-315F-68DC-FB19-3650E2B8847D}"/>
              </a:ext>
            </a:extLst>
          </p:cNvPr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The system in action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B35E17-3903-177D-3DA7-981E60F5974D}"/>
              </a:ext>
            </a:extLst>
          </p:cNvPr>
          <p:cNvSpPr txBox="1"/>
          <p:nvPr/>
        </p:nvSpPr>
        <p:spPr>
          <a:xfrm>
            <a:off x="8133500" y="3951127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dirty="0">
                <a:solidFill>
                  <a:srgbClr val="475569"/>
                </a:solidFill>
                <a:latin typeface="Calibri"/>
              </a:rPr>
              <a:t>Filed: approved entry in the mock Salesforce log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B3B816-0F38-6902-E1D9-6642C149D80A}"/>
              </a:ext>
            </a:extLst>
          </p:cNvPr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4 / 6</a:t>
            </a:r>
          </a:p>
        </p:txBody>
      </p:sp>
      <p:pic>
        <p:nvPicPr>
          <p:cNvPr id="12" name="Picture 11" descr="03_filed.png">
            <a:extLst>
              <a:ext uri="{FF2B5EF4-FFF2-40B4-BE49-F238E27FC236}">
                <a16:creationId xmlns:a16="http://schemas.microsoft.com/office/drawing/2014/main" id="{89DEB19B-D931-C989-3132-E0FB170FA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35" y="1349441"/>
            <a:ext cx="10517624" cy="2445319"/>
          </a:xfrm>
          <a:prstGeom prst="rect">
            <a:avLst/>
          </a:prstGeom>
        </p:spPr>
      </p:pic>
      <p:pic>
        <p:nvPicPr>
          <p:cNvPr id="3" name="Picture 2" descr="logo.png">
            <a:extLst>
              <a:ext uri="{FF2B5EF4-FFF2-40B4-BE49-F238E27FC236}">
                <a16:creationId xmlns:a16="http://schemas.microsoft.com/office/drawing/2014/main" id="{752F66E1-8732-601B-47B8-646D7A8D93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126480"/>
            <a:ext cx="1927859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536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Design. </a:t>
            </a:r>
            <a:r>
              <a:rPr sz="1500" b="0" i="0">
                <a:solidFill>
                  <a:srgbClr val="475569"/>
                </a:solidFill>
                <a:latin typeface="Calibri"/>
              </a:rPr>
              <a:t>15 synthetic test cases across three conditions, 45 runs in total. baseline_a is a single model call producing both note and email, no schema enforcement, no skill, no redaction. baseline_b is the full pipeline with three fixed exemplars. aftervisit is the full pipeline with skill-routed exemplars.</a:t>
            </a:r>
          </a:p>
          <a:p>
            <a:pPr algn="l">
              <a:spcBef>
                <a:spcPts val="1000"/>
              </a:spcBef>
            </a:pPr>
            <a:r>
              <a:rPr sz="1500" b="1" i="0">
                <a:solidFill>
                  <a:srgbClr val="1F3A5F"/>
                </a:solidFill>
                <a:latin typeface="Calibri"/>
              </a:rPr>
              <a:t>Scoring. </a:t>
            </a:r>
            <a:r>
              <a:rPr sz="1500" b="0" i="0">
                <a:solidFill>
                  <a:srgbClr val="475569"/>
                </a:solidFill>
                <a:latin typeface="Calibri"/>
              </a:rPr>
              <a:t>An LLM-as-judge scored each run across 10 rubric dimensions. The judge was validated against five hand-scored cases; 9 of 10 dimensions agreed with the hand scores within 1 point on at least 4 of 5 cases.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352944"/>
              </p:ext>
            </p:extLst>
          </p:nvPr>
        </p:nvGraphicFramePr>
        <p:xfrm>
          <a:off x="1295247" y="3093720"/>
          <a:ext cx="96012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109728" marR="109728" anchor="ctr">
                    <a:solidFill>
                      <a:srgbClr val="0EA5A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109728" marR="109728" anchor="ctr">
                    <a:solidFill>
                      <a:srgbClr val="0EA5A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109728" marR="109728" anchor="ctr">
                    <a:solidFill>
                      <a:srgbClr val="0EA5A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Tool-call</a:t>
                      </a:r>
                    </a:p>
                  </a:txBody>
                  <a:tcPr marL="109728" marR="109728" anchor="ctr">
                    <a:solidFill>
                      <a:srgbClr val="0EA5A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Voice match</a:t>
                      </a:r>
                    </a:p>
                  </a:txBody>
                  <a:tcPr marL="109728" marR="109728" anchor="ctr">
                    <a:solidFill>
                      <a:srgbClr val="0EA5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baseline_a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8/15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baseline_b</a:t>
                      </a:r>
                    </a:p>
                  </a:txBody>
                  <a:tcPr marL="109728" marR="109728" anchor="ctr">
                    <a:solidFill>
                      <a:srgbClr val="E5E7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109728" marR="109728" anchor="ctr">
                    <a:solidFill>
                      <a:srgbClr val="E5E7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109728" marR="109728" anchor="ctr">
                    <a:solidFill>
                      <a:srgbClr val="E5E7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15/15</a:t>
                      </a:r>
                    </a:p>
                  </a:txBody>
                  <a:tcPr marL="109728" marR="109728" anchor="ctr">
                    <a:solidFill>
                      <a:srgbClr val="E5E7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109728" marR="109728" anchor="ctr">
                    <a:solidFill>
                      <a:srgbClr val="E5E7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aftervisit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15/15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dirty="0">
                          <a:solidFill>
                            <a:srgbClr val="475569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5 / 6</a:t>
            </a:r>
          </a:p>
        </p:txBody>
      </p:sp>
      <p:pic>
        <p:nvPicPr>
          <p:cNvPr id="6" name="Picture 5" descr="logo.png">
            <a:extLst>
              <a:ext uri="{FF2B5EF4-FFF2-40B4-BE49-F238E27FC236}">
                <a16:creationId xmlns:a16="http://schemas.microsoft.com/office/drawing/2014/main" id="{3B55CCA3-1885-C0A5-4996-0D12AD5553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126480"/>
            <a:ext cx="1927859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Findings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Decomposition earns its place on operational reliability, not rubric points.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baseline_a's higher note score (9.9 vs 9.1) masks the fact that 7 of 15 of its notes failed real schema validation; the judge missed these. Tool-call success: 8/15 vs 15/15.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1F3A5F"/>
                </a:solidFill>
                <a:latin typeface="Calibri"/>
              </a:rPr>
              <a:t>Voice anchoring earns its place.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voice_match jumps from 1.00 to 2.00 once the model sees actual MGO-voice exemplars.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1F3A5F"/>
                </a:solidFill>
                <a:latin typeface="Calibri"/>
              </a:rPr>
              <a:t>Metadata routing ties fixed exemplars at this corpus size.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baseline_b and aftervisit both score 2.00 on voice_match. Per the pre-registered threshold, routing's marginal value over static exemplars is not demonstrated at n=15 references. Routing's other claims (corpus scaling, portability) were not measured by this eval.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757454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Known limitations: information-flow ceiling on oblique acknowledgments; corpus organization needs a sensitivity-aware dimension (tc_13 finding); n=15 cases is small.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5989320"/>
            <a:ext cx="1091153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6 / 6</a:t>
            </a:r>
          </a:p>
        </p:txBody>
      </p:sp>
      <p:pic>
        <p:nvPicPr>
          <p:cNvPr id="8" name="Picture 7" descr="logo.png">
            <a:extLst>
              <a:ext uri="{FF2B5EF4-FFF2-40B4-BE49-F238E27FC236}">
                <a16:creationId xmlns:a16="http://schemas.microsoft.com/office/drawing/2014/main" id="{F2C3FC0E-0E19-9722-F788-C4F414593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126480"/>
            <a:ext cx="1927859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883</Words>
  <Application>Microsoft Office PowerPoint</Application>
  <PresentationFormat>Widescreen</PresentationFormat>
  <Paragraphs>66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Elan Burman</dc:creator>
  <cp:keywords/>
  <dc:description>generated using python-pptx</dc:description>
  <cp:lastModifiedBy>Elan Burman</cp:lastModifiedBy>
  <cp:revision>4</cp:revision>
  <dcterms:created xsi:type="dcterms:W3CDTF">2013-01-27T09:14:16Z</dcterms:created>
  <dcterms:modified xsi:type="dcterms:W3CDTF">2026-05-13T03:44:35Z</dcterms:modified>
  <cp:category/>
</cp:coreProperties>
</file>